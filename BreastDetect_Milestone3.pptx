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Model Accuracy &amp; AUC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Thermal CNN</c:v>
                </c:pt>
                <c:pt idx="1">
                  <c:v>Pressure Model</c:v>
                </c:pt>
                <c:pt idx="2">
                  <c:v>Fusion Model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96.39</c:v>
                </c:pt>
                <c:pt idx="1">
                  <c:v>96.51</c:v>
                </c:pt>
                <c:pt idx="2">
                  <c:v>89.53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9C-ED40-A943-8F89393700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Thermal CNN</c:v>
                </c:pt>
                <c:pt idx="1">
                  <c:v>Pressure Model</c:v>
                </c:pt>
                <c:pt idx="2">
                  <c:v>Fusion Model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96.71</c:v>
                </c:pt>
                <c:pt idx="1">
                  <c:v>100</c:v>
                </c:pt>
                <c:pt idx="2">
                  <c:v>94.09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9C-ED40-A943-8F89393700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2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93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185FA5">
              <a:alpha val="15000"/>
            </a:srgbClr>
          </a:solidFill>
          <a:ln w="12700">
            <a:solidFill>
              <a:srgbClr val="185F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194560" cy="3200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MILESTONE 3  |  DEEP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Portable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Lump Detection Device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Multimodal Deep Learning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01168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E75"/>
                </a:solidFill>
              </a:rPr>
              <a:t>96.4%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721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Thermal CNN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3291840"/>
            <a:ext cx="201168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3310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E75"/>
                </a:solidFill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3721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Pressure AUC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3291840"/>
            <a:ext cx="201168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3310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E75"/>
                </a:solidFill>
              </a:rPr>
              <a:t>$100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3721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Hardware 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Veekshitha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A.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thermal CNN + autoencoder pressure model + multimodal fusion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B. Technical Innovations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project unique vs existing 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C. Live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preprocessing → inference → output walkthrough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17320" y="301752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417320" y="3017520"/>
            <a:ext cx="260604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D. Dataset Application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47472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DMR-IR thermography + Wisconsin Diagnostic datasets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301752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51960" y="3017520"/>
            <a:ext cx="260604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5196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E. Future Applications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347472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integration, deployment, federated learning, patent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FFF0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costs $100–$300 per scan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harmful ionizing radiation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7802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in rural &amp; low-income areas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tumours in dense breast tissue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 and invasive procedure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breast cancer deaths in developing countries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E1F5E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$100 total hardware cost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93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radiation — fully non-invasive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780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handheld — works anywhere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96265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sensing modalities combined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47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instant diagnosis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 + doctor finder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777240"/>
          </a:xfrm>
          <a:prstGeom prst="rect">
            <a:avLst/>
          </a:prstGeom>
          <a:solidFill>
            <a:srgbClr val="1D9E7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Thermal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(MLX90640 Camera)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2743200" cy="777240"/>
          </a:xfrm>
          <a:prstGeom prst="rect">
            <a:avLst/>
          </a:prstGeom>
          <a:solidFill>
            <a:srgbClr val="185FA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Pressure Readings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(8× FSR Sensors)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1348740"/>
            <a:ext cx="64008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71800" y="2263140"/>
            <a:ext cx="64008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86868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11880" y="868680"/>
            <a:ext cx="2377440" cy="2743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Thermal Branch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11887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→ Flatten → Dense(512)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Dense(256) → 128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201168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Pressure Branch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3317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→ Encoder(16)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→ 16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371600"/>
            <a:ext cx="41148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9320" y="2514600"/>
            <a:ext cx="41148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1371600"/>
            <a:ext cx="0" cy="11430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1938528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1463040"/>
            <a:ext cx="2103120" cy="1005840"/>
          </a:xfrm>
          <a:prstGeom prst="rect">
            <a:avLst/>
          </a:prstGeom>
          <a:solidFill>
            <a:srgbClr val="534AB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2084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Fusion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Concat(144) → Dense(256)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 → Dense(1)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2743200"/>
            <a:ext cx="0" cy="32004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DIAGNOSIS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Healthy / Abnormal + Confidence 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023360"/>
            <a:ext cx="8686800" cy="8686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023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B8"/>
                </a:solidFill>
              </a:rPr>
              <a:t>MLX90640 Camera  $79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4251960"/>
            <a:ext cx="0" cy="41148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4023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B8"/>
                </a:solidFill>
              </a:rPr>
              <a:t>8× FSR DF9-16  $18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4251960"/>
            <a:ext cx="0" cy="41148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4023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B8"/>
                </a:solidFill>
              </a:rPr>
              <a:t>Arduino UNO  $5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4251960"/>
            <a:ext cx="0" cy="41148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9440" y="4023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Total  ~$100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Thermal CNN — VGG16 Transfer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097280" cy="73152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224×224×3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25880" y="1325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35608" y="960120"/>
            <a:ext cx="1463040" cy="731520"/>
          </a:xfrm>
          <a:prstGeom prst="rect">
            <a:avLst/>
          </a:prstGeom>
          <a:solidFill>
            <a:srgbClr val="2C7A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35608" y="960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VGG16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Frozen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98648" y="1325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08376" y="960120"/>
            <a:ext cx="1097280" cy="731520"/>
          </a:xfrm>
          <a:prstGeom prst="rect">
            <a:avLst/>
          </a:prstGeom>
          <a:solidFill>
            <a:srgbClr val="1D7A5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08376" y="960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25088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05656" y="1325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15384" y="960120"/>
            <a:ext cx="1097280" cy="731520"/>
          </a:xfrm>
          <a:prstGeom prst="rect">
            <a:avLst/>
          </a:prstGeom>
          <a:solidFill>
            <a:srgbClr val="1D9E7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15384" y="960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Dense 512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12664" y="1325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22392" y="960120"/>
            <a:ext cx="822960" cy="731520"/>
          </a:xfrm>
          <a:prstGeom prst="rect">
            <a:avLst/>
          </a:prstGeom>
          <a:solidFill>
            <a:srgbClr val="5A9E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22392" y="960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Drop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45352" y="1325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55080" y="960120"/>
            <a:ext cx="1097280" cy="731520"/>
          </a:xfrm>
          <a:prstGeom prst="rect">
            <a:avLst/>
          </a:prstGeom>
          <a:solidFill>
            <a:srgbClr val="1D9E7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960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Dense 256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ReLU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52360" y="1325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62088" y="960120"/>
            <a:ext cx="1005840" cy="731520"/>
          </a:xfrm>
          <a:prstGeom prst="rect">
            <a:avLst/>
          </a:prstGeom>
          <a:solidFill>
            <a:srgbClr val="0F6E5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62088" y="9601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Sigmoid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192024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1920240"/>
            <a:ext cx="4160520" cy="3200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19202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</a:rPr>
              <a:t>Phase 1 — Frozen Backbone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286000"/>
            <a:ext cx="3840480" cy="1034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weights locked
Only custom head layers train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1×10⁻⁴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val_auc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920240"/>
            <a:ext cx="4251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920240"/>
            <a:ext cx="4251960" cy="3200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19202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Fine-Tuning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28600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4 VGG16 layers unfrozen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train together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1×10⁻⁵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patience: 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3429000"/>
            <a:ext cx="8686800" cy="141732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Results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96.39%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066544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AUC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66544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96.71%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767328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67328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96.69%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468112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Recall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68112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96.05%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168896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Threshold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68896" y="4114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0.10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Pressure Model — Autoencoder + Classifier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440180"/>
            <a:ext cx="914400" cy="320040"/>
          </a:xfrm>
          <a:prstGeom prst="rect">
            <a:avLst/>
          </a:prstGeom>
          <a:solidFill>
            <a:srgbClr val="1D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4401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07008" y="1385316"/>
            <a:ext cx="914400" cy="429768"/>
          </a:xfrm>
          <a:prstGeom prst="rect">
            <a:avLst/>
          </a:prstGeom>
          <a:solidFill>
            <a:srgbClr val="1A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7008" y="138531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39696" y="1330452"/>
            <a:ext cx="914400" cy="539496"/>
          </a:xfrm>
          <a:prstGeom prst="rect">
            <a:avLst/>
          </a:prstGeom>
          <a:solidFill>
            <a:srgbClr val="1884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39696" y="1330452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72384" y="1275588"/>
            <a:ext cx="914400" cy="649224"/>
          </a:xfrm>
          <a:prstGeom prst="rect">
            <a:avLst/>
          </a:prstGeom>
          <a:solidFill>
            <a:srgbClr val="0DA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72384" y="1275588"/>
            <a:ext cx="914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05072" y="1220724"/>
            <a:ext cx="914400" cy="758952"/>
          </a:xfrm>
          <a:prstGeom prst="rect">
            <a:avLst/>
          </a:prstGeom>
          <a:solidFill>
            <a:srgbClr val="0DBF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05072" y="1220724"/>
            <a:ext cx="914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385316"/>
            <a:ext cx="914400" cy="429768"/>
          </a:xfrm>
          <a:prstGeom prst="rect">
            <a:avLst/>
          </a:prstGeom>
          <a:solidFill>
            <a:srgbClr val="0DA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38531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70448" y="1330452"/>
            <a:ext cx="914400" cy="539496"/>
          </a:xfrm>
          <a:prstGeom prst="rect">
            <a:avLst/>
          </a:prstGeom>
          <a:solidFill>
            <a:srgbClr val="1884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70448" y="1330452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275588"/>
            <a:ext cx="914400" cy="649224"/>
          </a:xfrm>
          <a:prstGeom prst="rect">
            <a:avLst/>
          </a:prstGeom>
          <a:solidFill>
            <a:srgbClr val="1A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03136" y="1275588"/>
            <a:ext cx="914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35824" y="1220724"/>
            <a:ext cx="914400" cy="758952"/>
          </a:xfrm>
          <a:prstGeom prst="rect">
            <a:avLst/>
          </a:prstGeom>
          <a:solidFill>
            <a:srgbClr val="1D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35824" y="1220724"/>
            <a:ext cx="914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1920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</a:rPr>
              <a:t>ENCODER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1920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DECODER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1051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</a:rPr>
              <a:t>BOTTLENECK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331720"/>
            <a:ext cx="2788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2331720"/>
            <a:ext cx="2788920" cy="3200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 — Anomaly Detection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26974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trained on HEALTHY samples only. Learns normal tissue signature. High reconstruction error = abnormal detected. Loss: MSE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2331720"/>
            <a:ext cx="2788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2331720"/>
            <a:ext cx="2788920" cy="32004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54680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— Classifier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26974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classifier added on top of frozen encoder bottleneck. Fast training on compressed 16-dim features. Loss: Binary cross-entropy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331720"/>
            <a:ext cx="2788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0760" y="2331720"/>
            <a:ext cx="2788920" cy="3200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— Fine-Tune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26974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unfrozen. Full model trained end-to-end. Best weights saved via ModelCheckpoint monitoring val_auc.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886200"/>
            <a:ext cx="8686800" cy="96012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96.51%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60604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AUC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06040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100.00%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75488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100.00%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0372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</a:rPr>
              <a:t>Recall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03720" y="4187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</a:rPr>
              <a:t>90.62%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Technical Innovations vs Related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 Portable Multimodal Fusion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portable open-source system combines thermal camera + FSR pressure grid + CNN fusion under $100. All existing combined devices are large clinical machines costing $50,000+.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 Autoencoder Anomaly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autoencoder on healthy-only data for anomaly detection in breast cancer classification is novel. Standard approaches need balanced datasets — this works with class imbalance.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743200" cy="4114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End-to-End Clinical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417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sensing + AI inference + web application + PDF reports + doctor recommendation — all integrated in one portable $100 system.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246120"/>
            <a:ext cx="8686800" cy="3657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Feature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This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Thermal-only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Pressure Glove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Clinical Machine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611880"/>
            <a:ext cx="8686800" cy="283464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61188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Thermal sensing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361188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61188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361188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361188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895344"/>
            <a:ext cx="86868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8953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Pressure sensing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38953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38953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38953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38953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178808"/>
            <a:ext cx="8686800" cy="283464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17880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Multimodal CNN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11680" y="417880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✅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9040" y="417880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417880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17880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462272"/>
            <a:ext cx="86868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46227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Portable &lt;$100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011680" y="446227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✅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49040" y="446227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Partial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446227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Partial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446227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4745736"/>
            <a:ext cx="8686800" cy="283464"/>
          </a:xfrm>
          <a:prstGeom prst="rect">
            <a:avLst/>
          </a:prstGeom>
          <a:solidFill>
            <a:srgbClr val="F0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474573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Web application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011680" y="474573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</a:rPr>
              <a:t>✅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749040" y="474573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0" y="474573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23760" y="474573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Live Demo — Input to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424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Thermal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JPG/PNG from DMR-IR dataset or MLX90640 camera. Normalised 0–1.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24128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0424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Sensor Readings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FSR values (0–1023). Live from Arduino or manual entry on web app.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024128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10424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+ Autoencoder run in parallel. Fusion combines scores (60%/40%).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08760" y="28346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00200" y="2944368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0020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29626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3429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confidence score + risk level + model breakdown.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28346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2944368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29626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3429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with diagnosis, scores, recommendation + doctor finder.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617720"/>
            <a:ext cx="8686800" cy="3200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API  :5001   ←→   React + Vite  :5175   |   conda activate breastkit &amp;&amp; python app.py   |   npm run dev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Application to Datasets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3657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1 — Thermal Imaging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Source: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371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DMR-IR (Kaggle) + Breast Thermography V3 (Mendeley)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Total images: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856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1,879   (1,014 healthy + 865 abnormal)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Format: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34086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→ resized to 224×224 pixels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82549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Preprocessing: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82549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0–1, VGG16 preprocess_input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3101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Augmentation: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33101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RandomFlip, Rotation, Zoom, Contrast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794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Split: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794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914400"/>
            <a:ext cx="4114800" cy="36576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2 — Pressure / Tissue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Source: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371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Diagnostic Breast Cancer — UCI ML 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8562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Records: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8562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patients (357 benign, 212 malignant)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3408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Features: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34086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numerical tissue properties per record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8254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Preprocessing: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82549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normalisation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3101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Label encoding: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3101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 (malignant), B = 0 (benign)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Split: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Model Performance Results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0" y="960120"/>
            <a:ext cx="54864" cy="8229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987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807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</a:rPr>
              <a:t>96.51%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80760" y="15087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Pressure Model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192024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1920240"/>
            <a:ext cx="54864" cy="82296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1947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80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5FA5"/>
                </a:solidFill>
              </a:rPr>
              <a:t>100%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080760" y="2468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Pressure Model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0" y="288036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0" y="2880360"/>
            <a:ext cx="54864" cy="82296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80760" y="2907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100%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080760" y="3429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Pressure Model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43600" y="384048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0" y="3840480"/>
            <a:ext cx="54864" cy="8229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80760" y="3867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AUC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807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</a:rPr>
              <a:t>94.09%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080760" y="43891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Combined Model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Forward-Looking: Future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474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Real Hardware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MLX90640 camera + FSR sensors fully connected. Collect 200+ real paired samples. Expected accuracy: 95%+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Resource-Limited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rural clinics in developing countries. $100 device vs $50,000+ clinical equivalent.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2743200" cy="34747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Multi-Cancer 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thermal + pressure framework applied to thyroid nodule, skin cancer, lymph node detection.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743200" cy="347472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 Research Paper + Patent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3375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IEEE Transactions on Biomedical Engineering. File USPTO provisional patent ($320).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743200" cy="347472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Federated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3375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model improvement across multiple clinics without sharing patient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9260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63640" y="2926080"/>
            <a:ext cx="274320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 AWS Deployment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3375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→ EC2, React → S3 + CloudFront. Google Maps API for live doctor finder by GPS.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85FA5">
              <a:alpha val="12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0" cy="5943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96.4%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0058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CNN accuracy using VGG16 transfer learning on 1,879 images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097280" cy="5943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783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pressure autoencoder — trained on healthy-only samples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1097280" cy="5943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$100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5603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 — vs $50,000+ for clinical equivalents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1097280" cy="5943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Novel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3375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portable open-source thermal + pressure + CNN system found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  |  GitHub: github.com/veeksh07/AI-Powered-Portable-Breast-Lump-Detection-Device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1095</Words>
  <Application>Microsoft Macintosh PowerPoint</Application>
  <PresentationFormat>On-screen Show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Portable Breast Lump Detection Device</dc:title>
  <dc:subject>PptxGenJS Presentation</dc:subject>
  <dc:creator>Veekshitha</dc:creator>
  <cp:lastModifiedBy>Beladara Nanjegowda, Veekshitha</cp:lastModifiedBy>
  <cp:revision>2</cp:revision>
  <dcterms:created xsi:type="dcterms:W3CDTF">2026-05-03T04:59:42Z</dcterms:created>
  <dcterms:modified xsi:type="dcterms:W3CDTF">2026-05-03T16:50:01Z</dcterms:modified>
</cp:coreProperties>
</file>