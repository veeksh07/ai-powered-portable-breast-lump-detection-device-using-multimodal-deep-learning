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8722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1D9E75">
              <a:alpha val="14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3200400"/>
            <a:ext cx="1828800" cy="1828800"/>
          </a:xfrm>
          <a:prstGeom prst="ellipse">
            <a:avLst/>
          </a:prstGeom>
          <a:solidFill>
            <a:srgbClr val="185FA5">
              <a:alpha val="14000"/>
            </a:srgbClr>
          </a:solidFill>
          <a:ln w="12700">
            <a:solidFill>
              <a:srgbClr val="185FA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560320" cy="3200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TECHNICAL DOCUMENTATION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Deep Learning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Camera &amp; Fusion Architecture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Portable Breast Lump Detection Device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246888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</a:rPr>
              <a:t>Modalities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10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</a:rPr>
              <a:t>2 (Thermal + Pressure)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3108960"/>
            <a:ext cx="246888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</a:rPr>
              <a:t>Sensors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3410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</a:rPr>
              <a:t>8× FSR + 1 Thermal Camera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3108960"/>
            <a:ext cx="246888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</a:rPr>
              <a:t>Cost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3410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</a:rPr>
              <a:t>~$110 Hardware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Veekshitha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97480" cy="38404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033272"/>
            <a:ext cx="256032" cy="25603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033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01498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Multimodal Learning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why two modalities, model overview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97480" cy="384048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0128" y="1033272"/>
            <a:ext cx="256032" cy="25603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0128" y="1033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9312" y="101498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Fusion Architecture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4173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fusion, concatenation, step-by-step process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2697480" cy="384048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6208" y="1033272"/>
            <a:ext cx="256032" cy="25603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36208" y="1033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65392" y="101498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Thermal Camera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14173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MLX90640 — how it works, pin connections, image processing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2697480" cy="384048"/>
          </a:xfrm>
          <a:prstGeom prst="rect">
            <a:avLst/>
          </a:prstGeom>
          <a:solidFill>
            <a:srgbClr val="CC7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4048" y="2953512"/>
            <a:ext cx="256032" cy="25603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7700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29352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FSR Pressure Sensors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33756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DF9-16 sensors, voltage divider, wiring all 8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288036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2880360"/>
            <a:ext cx="269748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10128" y="2953512"/>
            <a:ext cx="256032" cy="25603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10128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39312" y="29352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Arduino UNO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333756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system, reading sensors, serial to Python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288036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26480" y="2880360"/>
            <a:ext cx="2697480" cy="384048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36208" y="2953512"/>
            <a:ext cx="256032" cy="25603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36208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65392" y="29352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Software Requirements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17920" y="333756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libraries, versions, installation commands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Multimodal Deep 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</a:rPr>
              <a:t>What is Multimodal Learning?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26187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deep learning trains a model on two or more different types of data simultaneously, combining them into one prediction. In this project: thermal infrared images + numerical pressure sensor readings.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78892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788920" cy="347472"/>
          </a:xfrm>
          <a:prstGeom prst="rect">
            <a:avLst/>
          </a:prstGeom>
          <a:solidFill>
            <a:srgbClr val="CC7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Thermal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Detects heat from tumour blood supply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24688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32004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Affected by room temperature. Surface level only.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828800"/>
            <a:ext cx="278892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2788920" cy="347472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18288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Pressure Only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Detects tissue stiffness. Mimics doctor palpation.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154680"/>
            <a:ext cx="24688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32004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Cannot detect deep or soft tumours.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828800"/>
            <a:ext cx="278892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1828800"/>
            <a:ext cx="2788920" cy="34747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18288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Multimodal 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240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Thermal catches what pressure misses and vice versa.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154680"/>
            <a:ext cx="24688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32004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Best accuracy. Fewer false results.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B8"/>
                </a:solidFill>
              </a:rPr>
              <a:t>This project mirrors how a doctor works — simultaneously SEES thermal patterns and FEELS tissue stiffness before diagnosing.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Fusion Architecture — Step by Step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560320" cy="3200400"/>
          </a:xfrm>
          <a:prstGeom prst="rect">
            <a:avLst/>
          </a:prstGeom>
          <a:solidFill>
            <a:srgbClr val="F0FAF6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560320" cy="34747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Thermal Branch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2377440" cy="292608"/>
          </a:xfrm>
          <a:prstGeom prst="rect">
            <a:avLst/>
          </a:prstGeom>
          <a:solidFill>
            <a:srgbClr val="E8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3533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Input 224×224×3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00784"/>
            <a:ext cx="2377440" cy="292608"/>
          </a:xfrm>
          <a:prstGeom prst="rect">
            <a:avLst/>
          </a:prstGeom>
          <a:solidFill>
            <a:srgbClr val="E8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7007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VGG16 (frozen)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48256"/>
            <a:ext cx="2377440" cy="292608"/>
          </a:xfrm>
          <a:prstGeom prst="rect">
            <a:avLst/>
          </a:prstGeom>
          <a:solidFill>
            <a:srgbClr val="E8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0482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Flatten 25088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95728"/>
            <a:ext cx="2377440" cy="292608"/>
          </a:xfrm>
          <a:prstGeom prst="rect">
            <a:avLst/>
          </a:prstGeom>
          <a:solidFill>
            <a:srgbClr val="E8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395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Dense(512) ReLU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2377440" cy="292608"/>
          </a:xfrm>
          <a:prstGeom prst="rect">
            <a:avLst/>
          </a:prstGeom>
          <a:solidFill>
            <a:srgbClr val="E8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743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Dense(256) ReLU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90672"/>
            <a:ext cx="2377440" cy="29260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0906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128 features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914400"/>
            <a:ext cx="2560320" cy="3200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017520" y="914400"/>
            <a:ext cx="2560320" cy="347472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1752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Pressure Branch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8960" y="1353312"/>
            <a:ext cx="2377440" cy="292608"/>
          </a:xfrm>
          <a:prstGeom prst="rect">
            <a:avLst/>
          </a:prstGeom>
          <a:solidFill>
            <a:srgbClr val="D8E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08960" y="13533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Input 30 features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1700784"/>
            <a:ext cx="2377440" cy="292608"/>
          </a:xfrm>
          <a:prstGeom prst="rect">
            <a:avLst/>
          </a:prstGeom>
          <a:solidFill>
            <a:srgbClr val="D8E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08960" y="17007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Encoder 128→64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048256"/>
            <a:ext cx="2377440" cy="292608"/>
          </a:xfrm>
          <a:prstGeom prst="rect">
            <a:avLst/>
          </a:prstGeom>
          <a:solidFill>
            <a:srgbClr val="D8E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08960" y="20482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Encoder 32→16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08960" y="2395728"/>
            <a:ext cx="2377440" cy="292608"/>
          </a:xfrm>
          <a:prstGeom prst="rect">
            <a:avLst/>
          </a:prstGeom>
          <a:solidFill>
            <a:srgbClr val="D8E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08960" y="2395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Bottleneck (16)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08960" y="2743200"/>
            <a:ext cx="2377440" cy="292608"/>
          </a:xfrm>
          <a:prstGeom prst="rect">
            <a:avLst/>
          </a:prstGeom>
          <a:solidFill>
            <a:srgbClr val="D8E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08960" y="2743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Dense(32) ReLU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08960" y="3090672"/>
            <a:ext cx="2377440" cy="292608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08960" y="30906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16 features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0" y="2514600"/>
            <a:ext cx="27432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577840" y="2514600"/>
            <a:ext cx="274320" cy="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852160" y="914400"/>
            <a:ext cx="3063240" cy="3200400"/>
          </a:xfrm>
          <a:prstGeom prst="rect">
            <a:avLst/>
          </a:prstGeom>
          <a:solidFill>
            <a:srgbClr val="F5F3FF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852160" y="914400"/>
            <a:ext cx="3063240" cy="347472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52160" y="9144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Fusion Model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43600" y="1353312"/>
            <a:ext cx="2880360" cy="292608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943600" y="13533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Concat(128+16=144)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43600" y="1700784"/>
            <a:ext cx="2880360" cy="292608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43600" y="170078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Dense(256) + BatchNorm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43600" y="2048256"/>
            <a:ext cx="2880360" cy="292608"/>
          </a:xfrm>
          <a:prstGeom prst="rect">
            <a:avLst/>
          </a:prstGeom>
          <a:solidFill>
            <a:srgbClr val="9B91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943600" y="204825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Dropout(0.4)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43600" y="2395728"/>
            <a:ext cx="2880360" cy="292608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943600" y="23957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Dense(128) + BatchNorm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43600" y="2743200"/>
            <a:ext cx="2880360" cy="292608"/>
          </a:xfrm>
          <a:prstGeom prst="rect">
            <a:avLst/>
          </a:prstGeom>
          <a:solidFill>
            <a:srgbClr val="9B91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943600" y="27432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Dropout(0.3)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43600" y="3090672"/>
            <a:ext cx="2880360" cy="292608"/>
          </a:xfrm>
          <a:prstGeom prst="rect">
            <a:avLst/>
          </a:prstGeom>
          <a:solidFill>
            <a:srgbClr val="2E0D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943600" y="30906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Dense(1) + Sigmoid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379208" y="4114800"/>
            <a:ext cx="0" cy="32004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852160" y="4434840"/>
            <a:ext cx="3063240" cy="50292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852160" y="4434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</a:rPr>
              <a:t>Output: Healthy / Abnormal + Confidence 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82880" y="4206240"/>
            <a:ext cx="5623560" cy="320040"/>
          </a:xfrm>
          <a:prstGeom prst="rect">
            <a:avLst/>
          </a:prstGeom>
          <a:solidFill>
            <a:srgbClr val="F5F3FF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82880" y="4206240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34AB7"/>
                </a:solidFill>
              </a:rPr>
              <a:t>128 thermal features  +  16 pressure features  =  144 concatenated features → Fusion Input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Thermal Camera — MLX90640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896112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4114800" cy="347472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896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MLX90640 Specifications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298448"/>
            <a:ext cx="4023360" cy="301752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</a:rPr>
              <a:t>Resolution: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298448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32×24 pixels = 768 readings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627632"/>
            <a:ext cx="40233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627632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</a:rPr>
              <a:t>Voltage: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162763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3.3V ONLY (not 5V!)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4023360" cy="301752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956816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</a:rPr>
              <a:t>Interface: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1956816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I2C (SDA + SCL)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286000"/>
            <a:ext cx="40233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286000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</a:rPr>
              <a:t>I2C Address: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2286000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0x33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615184"/>
            <a:ext cx="4023360" cy="301752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615184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</a:rPr>
              <a:t>I2C Speed: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261518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400kHz Fast Mode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944368"/>
            <a:ext cx="40233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944368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</a:rPr>
              <a:t>Temperature: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2944368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−40°C to +300°C, ±1.5°C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273552"/>
            <a:ext cx="4023360" cy="301752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273552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</a:rPr>
              <a:t>Field of view: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327355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55° × 35°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3602736"/>
            <a:ext cx="40233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3602736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</a:rPr>
              <a:t>Refresh rate: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91640" y="3602736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0.5 Hz to 64 Hz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896112"/>
            <a:ext cx="43434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896112"/>
            <a:ext cx="4343400" cy="347472"/>
          </a:xfrm>
          <a:prstGeom prst="rect">
            <a:avLst/>
          </a:prstGeom>
          <a:solidFill>
            <a:srgbClr val="2E0D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0" y="89611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It Detects Cancer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63440" y="1298448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Tumours have increased blood flow → area is 0.5–2°C warmer than surrounding tissue → thermal camera detects this hotspot → CNN classifies the thermal pattern as abnormal.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2743200"/>
            <a:ext cx="4343400" cy="2084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0" y="2743200"/>
            <a:ext cx="4343400" cy="347472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0" y="274320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Pin Connections to Arduino UNO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17720" y="3127248"/>
            <a:ext cx="4251960" cy="36576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63440" y="312724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</a:rPr>
              <a:t>VCC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31272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→ 3.3V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25312" y="312724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Power — 3.3V ONLY, NOT 5V!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17720" y="3529584"/>
            <a:ext cx="42519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63440" y="352958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CC"/>
                </a:solidFill>
              </a:rPr>
              <a:t>GND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352958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→ GND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25312" y="352958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Ground reference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17720" y="3931920"/>
            <a:ext cx="4251960" cy="36576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663440" y="393192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</a:rPr>
              <a:t>SDA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57800" y="39319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→ A4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925312" y="39319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I2C Data — sends data to Arduino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17720" y="4334256"/>
            <a:ext cx="42519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663440" y="4334256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</a:rPr>
              <a:t>SCL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57800" y="43342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→ A5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925312" y="433425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I2C Clock — sync speed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82880" y="4892040"/>
            <a:ext cx="873252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74320" y="4892040"/>
            <a:ext cx="8549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3333"/>
                </a:solidFill>
              </a:rPr>
              <a:t>⚠️  CRITICAL: Camera uses 3.3V. Connecting to 5V will permanently damage the MLX90640 sensor.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7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FSR DF9-16 Pressure Sensors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89611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4114800" cy="347472"/>
          </a:xfrm>
          <a:prstGeom prst="rect">
            <a:avLst/>
          </a:prstGeom>
          <a:solidFill>
            <a:srgbClr val="CC7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896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is an FSR Sensor?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 = Force Sensitive Resistor. Changes electrical resistance when pressure is applied. No pressure → high resistance (~1MΩ). Hard press → low resistance (~200Ω). Arduino reads this as 0–1023.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96112"/>
            <a:ext cx="43434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896112"/>
            <a:ext cx="4343400" cy="347472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89611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7700"/>
                </a:solidFill>
              </a:rPr>
              <a:t>Voltage Divider Circuit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298448"/>
            <a:ext cx="4160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→ FSR → junction → 10kΩ → GND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reads voltage at junction (A0–A7)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V = 5V × 10kΩ / (FSR + 10kΩ)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pressed: ~10 | Light press: ~512 | Hard: ~1003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944368"/>
            <a:ext cx="8732520" cy="347472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" y="29443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</a:rPr>
              <a:t>Sensor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04872" y="29443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</a:rPr>
              <a:t>FSR Leg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81144" y="29443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</a:rPr>
              <a:t>Arduino Pin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57416" y="29443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</a:rPr>
              <a:t>Resistor to GND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3291840"/>
            <a:ext cx="8732520" cy="201168"/>
          </a:xfrm>
          <a:prstGeom prst="rect">
            <a:avLst/>
          </a:prstGeom>
          <a:solidFill>
            <a:srgbClr val="FFF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" y="3291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700"/>
                </a:solidFill>
              </a:rPr>
              <a:t>FSR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04872" y="3291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5V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81144" y="3291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A0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57416" y="3291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10kΩ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3511296"/>
            <a:ext cx="873252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" y="35112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700"/>
                </a:solidFill>
              </a:rPr>
              <a:t>FSR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04872" y="35112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5V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81144" y="35112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A1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57416" y="35112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10kΩ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3730752"/>
            <a:ext cx="8732520" cy="201168"/>
          </a:xfrm>
          <a:prstGeom prst="rect">
            <a:avLst/>
          </a:prstGeom>
          <a:solidFill>
            <a:srgbClr val="FFF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8600" y="3730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700"/>
                </a:solidFill>
              </a:rPr>
              <a:t>FSR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04872" y="3730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5V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81144" y="3730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A2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57416" y="3730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10kΩ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" y="3950208"/>
            <a:ext cx="873252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8600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700"/>
                </a:solidFill>
              </a:rPr>
              <a:t>FSR 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04872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5V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81144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A3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57416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10kΩ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2880" y="4169664"/>
            <a:ext cx="8732520" cy="201168"/>
          </a:xfrm>
          <a:prstGeom prst="rect">
            <a:avLst/>
          </a:prstGeom>
          <a:solidFill>
            <a:srgbClr val="FFF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28600" y="41696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700"/>
                </a:solidFill>
              </a:rPr>
              <a:t>FSR 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04872" y="41696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5V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81144" y="41696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A4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57416" y="41696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10kΩ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82880" y="4389120"/>
            <a:ext cx="873252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28600" y="4389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700"/>
                </a:solidFill>
              </a:rPr>
              <a:t>FSR 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04872" y="4389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5V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81144" y="4389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A5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57416" y="4389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10kΩ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82880" y="4608576"/>
            <a:ext cx="8732520" cy="201168"/>
          </a:xfrm>
          <a:prstGeom prst="rect">
            <a:avLst/>
          </a:prstGeom>
          <a:solidFill>
            <a:srgbClr val="FFF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28600" y="46085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700"/>
                </a:solidFill>
              </a:rPr>
              <a:t>FSR 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404872" y="46085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5V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81144" y="46085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A6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757416" y="46085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10kΩ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82880" y="4828032"/>
            <a:ext cx="873252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28600" y="4828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700"/>
                </a:solidFill>
              </a:rPr>
              <a:t>FSR 8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404872" y="4828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5V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81144" y="4828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A7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57416" y="4828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10kΩ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82880" y="5074920"/>
            <a:ext cx="8732520" cy="274320"/>
          </a:xfrm>
          <a:prstGeom prst="rect">
            <a:avLst/>
          </a:prstGeom>
          <a:solidFill>
            <a:srgbClr val="FFF8EE"/>
          </a:solidFill>
          <a:ln w="12700">
            <a:solidFill>
              <a:srgbClr val="CC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74320" y="5074920"/>
            <a:ext cx="8549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7700"/>
                </a:solidFill>
              </a:rPr>
              <a:t>KEY: FSR leg 2 + resistor top leg + signal wire all go into the SAME breadboard column — this is the junction point.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Image Processing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84048" cy="384048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0698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</a:rPr>
              <a:t>Read Camera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float values from MLX90640 via I2C (32×24 grid)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764792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96012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0" y="1051560"/>
            <a:ext cx="384048" cy="384048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10698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</a:rPr>
              <a:t>Reshape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15087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to 24×32 NumPy array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1764792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0698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Normalise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5087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(value−min)/(max−min)×255 → 0 to 255 range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1764792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0" y="96012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49440" y="1051560"/>
            <a:ext cx="384048" cy="384048"/>
          </a:xfrm>
          <a:prstGeom prst="ellipse">
            <a:avLst/>
          </a:prstGeom>
          <a:solidFill>
            <a:srgbClr val="CC7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06640" y="10698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7700"/>
                </a:solidFill>
              </a:rPr>
              <a:t>Colormap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15087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inferno colormap: black=cold → yellow=hot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3017520"/>
            <a:ext cx="384048" cy="3840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30358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</a:rPr>
              <a:t>Upscale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34747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Bicubic interpolation: 32×24 → 224×224 pixels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71800" y="3730752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0" y="292608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91840" y="3017520"/>
            <a:ext cx="384048" cy="384048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918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749040" y="30358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Preprocess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91840" y="34747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preprocess_input (subtract ImageNet mean)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97880" y="3730752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26480" y="292608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17920" y="3017520"/>
            <a:ext cx="384048" cy="38404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179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675120" y="30358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</a:rPr>
              <a:t>Inference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17920" y="34747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to (1,224,224,3) → CNN prediction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B8"/>
                </a:solidFill>
              </a:rPr>
              <a:t>Why inferno colormap? It matches the training dataset (DMR-IR) which uses the same colormap — reducing domain gap.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Arduino UNO — Reading Sensors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896112"/>
            <a:ext cx="38404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384048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Arduino UNO Specs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298448"/>
            <a:ext cx="3749040" cy="301752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Microcontroller: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298448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ATmega328P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627632"/>
            <a:ext cx="374904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62763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Analog pins: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627632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A0–A7 (8 pins)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3749040" cy="301752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956816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ADC resolution: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1956816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10-bit (0–1023)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286000"/>
            <a:ext cx="374904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2860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I2C pins: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2286000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A4 (SDA) + A5 (SCL)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615184"/>
            <a:ext cx="3749040" cy="301752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61518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Baud rate: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2615184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9600 bps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944368"/>
            <a:ext cx="374904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94436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Programming: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2944368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C++ in Arduino IDE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273552"/>
            <a:ext cx="3749040" cy="301752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27355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Power: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3273552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5V via USB from laptop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3602736"/>
            <a:ext cx="374904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3602736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Role: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20240" y="3602736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Read 8 FSR + send via Serial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51960" y="896112"/>
            <a:ext cx="46634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251960" y="896112"/>
            <a:ext cx="4663440" cy="347472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51960" y="8961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Arduino Sketch (fsr_reader.ino)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43400" y="1298448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43400" y="1463040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s1 = analogRead(A0);  // 0-1023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43400" y="1627632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s2 = analogRead(A1);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43400" y="179222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repeat A2 to A7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43400" y="1956816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Serial.println("234,187,312,298");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43400" y="2121408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delay(100);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43400" y="2286000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51960" y="2907792"/>
            <a:ext cx="46634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251960" y="2907792"/>
            <a:ext cx="4663440" cy="347472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51960" y="29077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Python Serial Reader (read_arduino.py)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343400" y="3310128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serial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343400" y="3557016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 = serial.Serial(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343400" y="3803904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'/dev/cu.usbserial-1410', 9600)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43400" y="4050792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= ser.readline().decode('utf-8')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343400" y="429768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= [int(x) for x in line.split(',')]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343400" y="4544568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[234, 187, 312, 298, 201, 267, 189, 344]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82880" y="4892040"/>
            <a:ext cx="8732520" cy="274320"/>
          </a:xfrm>
          <a:prstGeom prst="rect">
            <a:avLst/>
          </a:prstGeom>
          <a:solidFill>
            <a:srgbClr val="F0FFF4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74320" y="4892040"/>
            <a:ext cx="8549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</a:rPr>
              <a:t>Data flow: FSR sensors → Arduino reads → USB Serial → Python pyserial → Flask API → AI inference → Web app result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Complete Software Requirements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896112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4114800" cy="34747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896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Libraries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298448"/>
            <a:ext cx="4023360" cy="274320"/>
          </a:xfrm>
          <a:prstGeom prst="rect">
            <a:avLst/>
          </a:prstGeom>
          <a:solidFill>
            <a:srgbClr val="F0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</a:rPr>
              <a:t>tensorflow-macos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129844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5FA5"/>
                </a:solidFill>
              </a:rPr>
              <a:t>2.13.0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129844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Deep learning (Mac M1)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600200"/>
            <a:ext cx="40233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6002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</a:rPr>
              <a:t>tensorflow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74520" y="16002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5FA5"/>
                </a:solidFill>
              </a:rPr>
              <a:t>2.13.0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1600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Deep learning (Windows/Linux)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1901952"/>
            <a:ext cx="4023360" cy="274320"/>
          </a:xfrm>
          <a:prstGeom prst="rect">
            <a:avLst/>
          </a:prstGeom>
          <a:solidFill>
            <a:srgbClr val="F0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19019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</a:rPr>
              <a:t>tensorflow-metal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74520" y="1901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5FA5"/>
                </a:solidFill>
              </a:rPr>
              <a:t>1.1.0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19019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Apple Metal GPU (Mac)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203704"/>
            <a:ext cx="40233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20370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</a:rPr>
              <a:t>numpy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74520" y="22037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5FA5"/>
                </a:solidFill>
              </a:rPr>
              <a:t>latest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220370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Array operations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505456"/>
            <a:ext cx="4023360" cy="274320"/>
          </a:xfrm>
          <a:prstGeom prst="rect">
            <a:avLst/>
          </a:prstGeom>
          <a:solidFill>
            <a:srgbClr val="F0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250545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</a:rPr>
              <a:t>pandas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74520" y="250545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5FA5"/>
                </a:solidFill>
              </a:rPr>
              <a:t>latest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68880" y="25054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Data loading and CSV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2807208"/>
            <a:ext cx="40233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280720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</a:rPr>
              <a:t>scikit-learn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74520" y="280720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5FA5"/>
                </a:solidFill>
              </a:rPr>
              <a:t>latest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68880" y="28072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Preprocessing + metrics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108960"/>
            <a:ext cx="4023360" cy="274320"/>
          </a:xfrm>
          <a:prstGeom prst="rect">
            <a:avLst/>
          </a:prstGeom>
          <a:solidFill>
            <a:srgbClr val="F0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3108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</a:rPr>
              <a:t>pillow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74520" y="31089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5FA5"/>
                </a:solidFill>
              </a:rPr>
              <a:t>latest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Image loading/resizing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3410712"/>
            <a:ext cx="40233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34107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</a:rPr>
              <a:t>flask + flask-cors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874520" y="341071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5FA5"/>
                </a:solidFill>
              </a:rPr>
              <a:t>3.0+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68880" y="34107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REST API backend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3712464"/>
            <a:ext cx="4023360" cy="274320"/>
          </a:xfrm>
          <a:prstGeom prst="rect">
            <a:avLst/>
          </a:prstGeom>
          <a:solidFill>
            <a:srgbClr val="F0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371246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</a:rPr>
              <a:t>reportlab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874520" y="371246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5FA5"/>
                </a:solidFill>
              </a:rPr>
              <a:t>latest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468880" y="37124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PDF report generation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4014216"/>
            <a:ext cx="40233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320" y="401421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</a:rPr>
              <a:t>pyserial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874520" y="401421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5FA5"/>
                </a:solidFill>
              </a:rPr>
              <a:t>latest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468880" y="40142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Arduino USB serial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17720" y="896112"/>
            <a:ext cx="42976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17720" y="896112"/>
            <a:ext cx="4297680" cy="347472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17720" y="8961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 Requirements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663440" y="1298448"/>
            <a:ext cx="4206240" cy="23774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09160" y="12984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</a:rPr>
              <a:t>Node.js 18+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55080" y="12984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JavaScript runtime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63440" y="1554480"/>
            <a:ext cx="42062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09160" y="15544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</a:rPr>
              <a:t>React 18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55080" y="155448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Frontend UI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63440" y="1810512"/>
            <a:ext cx="4206240" cy="23774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09160" y="181051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</a:rPr>
              <a:t>Vite 5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355080" y="18105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Dev server + build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63440" y="2066544"/>
            <a:ext cx="42062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709160" y="206654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</a:rPr>
              <a:t>react-router-dom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355080" y="206654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Page routing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663440" y="2322576"/>
            <a:ext cx="4206240" cy="23774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709160" y="23225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</a:rPr>
              <a:t>axios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355080" y="232257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HTTP API calls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617720" y="2907792"/>
            <a:ext cx="42976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617720" y="2907792"/>
            <a:ext cx="4297680" cy="347472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617720" y="29077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Installation Commands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681728" y="3310128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create -n breastkit python=3.11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681728" y="3529584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breastkit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681728" y="374904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tensorflow-macos==2.13.0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681728" y="396849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flask flask-cors pillow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681728" y="418795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numpy pandas scikit-learn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681728" y="4407408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pyserial reportlab joblib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4681728" y="4626864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frontend &amp;&amp; npm install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132320" y="3200400"/>
            <a:ext cx="2926080" cy="2926080"/>
          </a:xfrm>
          <a:prstGeom prst="ellipse">
            <a:avLst/>
          </a:prstGeom>
          <a:solidFill>
            <a:srgbClr val="185FA5">
              <a:alpha val="12000"/>
            </a:srgbClr>
          </a:solidFill>
          <a:ln w="12700">
            <a:solidFill>
              <a:srgbClr val="185FA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4572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4864" cy="4572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</a:rPr>
              <a:t>Multimodal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86868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modalities: Thermal image CNN (128-dim) + Pressure autoencoder (16-dim) → fused 144-dim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89888"/>
            <a:ext cx="8595360" cy="4572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54864" cy="4572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38988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</a:rPr>
              <a:t>Fusion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138988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concatenation + Dense(256)→Dense(128)→Dense(1) sigmoid output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911096"/>
            <a:ext cx="8595360" cy="4572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911096"/>
            <a:ext cx="54864" cy="45720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1911096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</a:rPr>
              <a:t>Thermal CNN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191109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transfer learning, 96.39% accuracy, 96.71% AUC, threshold 0.10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432304"/>
            <a:ext cx="8595360" cy="4572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432304"/>
            <a:ext cx="54864" cy="4572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432304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Pressure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37360" y="2432304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anomaly detection (healthy-only), 96.51% accuracy, 100% AUC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953512"/>
            <a:ext cx="8595360" cy="4572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953512"/>
            <a:ext cx="54864" cy="457200"/>
          </a:xfrm>
          <a:prstGeom prst="rect">
            <a:avLst/>
          </a:prstGeom>
          <a:solidFill>
            <a:srgbClr val="CC7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95351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7700"/>
                </a:solidFill>
              </a:rPr>
              <a:t>Camera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37360" y="295351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MLX90640: 32×24 IR, 3.3V, I2C on A4/A5, 32×24→224×224 with inferno colormap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474720"/>
            <a:ext cx="8595360" cy="4572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54864" cy="457200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4747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</a:rPr>
              <a:t>Sensors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37360" y="34747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FSR DF9-16 + 10kΩ voltage dividers → Arduino A0–A7 → USB serial 9600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995928"/>
            <a:ext cx="8595360" cy="4572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995928"/>
            <a:ext cx="54864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99592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Software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37360" y="399592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TF 2.13 + Flask 3.0 + React 18 + Node.js 18 + Arduino IDE 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517136"/>
            <a:ext cx="8595360" cy="4572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4517136"/>
            <a:ext cx="54864" cy="4572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4517136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</a:rPr>
              <a:t>Cost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737360" y="45171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~$110 total hardware. Clinical equivalents cost $50,000+.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9E75"/>
                </a:solidFill>
              </a:rPr>
              <a:t>Thank you  |  Questions?  |  GitHub: github.com/veeksh07/AI-Powered-Portable-Breast-Lump-Detection-Device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1309</Words>
  <Application>Microsoft Macintosh PowerPoint</Application>
  <PresentationFormat>On-screen Show (16:9)</PresentationFormat>
  <Paragraphs>283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Beladara Nanjegowda, Veekshitha</cp:lastModifiedBy>
  <cp:revision>2</cp:revision>
  <dcterms:created xsi:type="dcterms:W3CDTF">2026-05-03T19:07:25Z</dcterms:created>
  <dcterms:modified xsi:type="dcterms:W3CDTF">2026-05-03T19:45:45Z</dcterms:modified>
</cp:coreProperties>
</file>